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Lato"/>
      <p:regular r:id="rId15"/>
      <p:bold r:id="rId16"/>
      <p:italic r:id="rId17"/>
      <p:boldItalic r:id="rId18"/>
    </p:embeddedFont>
    <p:embeddedFont>
      <p:font typeface="Poppi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11" Type="http://schemas.openxmlformats.org/officeDocument/2006/relationships/slide" Target="slides/slide6.xml"/><Relationship Id="rId22" Type="http://schemas.openxmlformats.org/officeDocument/2006/relationships/font" Target="fonts/Poppins-boldItalic.fntdata"/><Relationship Id="rId10" Type="http://schemas.openxmlformats.org/officeDocument/2006/relationships/slide" Target="slides/slide5.xml"/><Relationship Id="rId21" Type="http://schemas.openxmlformats.org/officeDocument/2006/relationships/font" Target="fonts/Poppi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slide" Target="slides/slide9.xml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regular.fntdata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23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24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125075" y="571500"/>
            <a:ext cx="1304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STRATEGIC HR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1967954"/>
            <a:ext cx="5900737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Strategic Talent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Retention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4444454"/>
            <a:ext cx="49434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Using Data Science to Protect Our Human Capital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762000" y="5330279"/>
            <a:ext cx="952500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919311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High Cost of Quiet Exits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2874168"/>
            <a:ext cx="50482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$1.9M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62000" y="4207668"/>
            <a:ext cx="5048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Estimated Risk Exposure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4722018"/>
            <a:ext cx="5048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Losing a key employee costs the business roughly </a:t>
            </a:r>
            <a:r>
              <a:rPr b="1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50%</a:t>
            </a: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of their annual salary in recruitment, training, and lost productivity.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381750" y="3221831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Reactive Culture: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Exit interviews happen too late.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381750" y="3669506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Operational Gaps: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Critical roles left vacant for months.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381750" y="4374356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Knowledge Loss: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Decades of institutional expertise walking out.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24564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69331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398168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259931"/>
            <a:ext cx="336545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3259931"/>
            <a:ext cx="336545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3259931"/>
            <a:ext cx="3365599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62000" y="919311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Executive Summary: Our Solution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2231231"/>
            <a:ext cx="10668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We have developed a </a:t>
            </a:r>
            <a:r>
              <a:rPr b="1" i="0" lang="en-US" sz="21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Predictive Early Warning System</a:t>
            </a:r>
            <a:r>
              <a:rPr b="0" i="0" lang="en-US" sz="21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that identifies employees at risk of leaving </a:t>
            </a:r>
            <a:r>
              <a:rPr b="0" i="0" lang="en-US" sz="2100" u="sng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before</a:t>
            </a:r>
            <a:r>
              <a:rPr b="0" i="0" lang="en-US" sz="21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they hand in their notice.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3000" y="3688556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143000" y="4488656"/>
            <a:ext cx="2733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Identify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143000" y="4974431"/>
            <a:ext cx="26034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Pinpoints high-risk talent with a 62% successful catch rate.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94200" y="368855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794200" y="4488656"/>
            <a:ext cx="2733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Diagnose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794200" y="4974431"/>
            <a:ext cx="2603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Tells us exactly </a:t>
            </a:r>
            <a:r>
              <a:rPr b="0" i="1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why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they are unhappy (Overtime, Salary, etc.).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45400" y="368855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445400" y="4488656"/>
            <a:ext cx="273377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Retain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45400" y="4974431"/>
            <a:ext cx="26035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Empowers Managers to deploy targeted, cost-effective incentives.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888456"/>
            <a:ext cx="504825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340893"/>
            <a:ext cx="5048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88593"/>
            <a:ext cx="5048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636293"/>
            <a:ext cx="5048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919311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What Truly Drives Attrition?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762750" y="3269456"/>
            <a:ext cx="45005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"Overtime" Trap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762750" y="3736181"/>
            <a:ext cx="4286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Data proves that employees working consistent overtime are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significantly more likely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to leave than their peers, regardless of pay level. Burnout is our #1 risk factor.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3083718"/>
            <a:ext cx="5048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Extraordinary Overtime </a:t>
            </a:r>
            <a:r>
              <a:rPr b="1" i="0" lang="en-US" sz="1200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HIGH IMPACT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3731418"/>
            <a:ext cx="5048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Compensation Gaps MEDIUM IMPACT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62000" y="4379118"/>
            <a:ext cx="5048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Work-Life Balance MEDIUM IMPACT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762000" y="3340893"/>
            <a:ext cx="4543425" cy="1524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762000" y="3988593"/>
            <a:ext cx="3281362" cy="15240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762000" y="4636293"/>
            <a:ext cx="2524125" cy="15240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90961"/>
            <a:ext cx="10668000" cy="390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4725" y="5567511"/>
            <a:ext cx="37147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762000" y="919311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Actionable Intelligence for Leaders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2033736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Instead of vague reports, we provide a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Retention Diagnostic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for every flagged employee.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152525" y="3348186"/>
            <a:ext cx="1038129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Retention Alert: Employee #478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152525" y="4014936"/>
            <a:ext cx="9886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Flight Risk: 98.9%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1152525" y="4519761"/>
            <a:ext cx="98869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1152525" y="4910286"/>
            <a:ext cx="4848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Primary Stressors: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191250" y="5053161"/>
            <a:ext cx="4848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Recommended Intervention: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419225" y="5310336"/>
            <a:ext cx="11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533525" y="5329386"/>
            <a:ext cx="4467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Working Significant Overtime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419225" y="5538936"/>
            <a:ext cx="11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533525" y="5557986"/>
            <a:ext cx="4467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Frequently Traveling (Sales Dept)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419225" y="5767536"/>
            <a:ext cx="11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533525" y="5786586"/>
            <a:ext cx="4467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Below Market Median Salary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300811"/>
            <a:ext cx="4675882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762000" y="919311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Proven ROI: From Prediction to Profit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62000" y="2033736"/>
            <a:ext cx="1066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By deploying this model, we transition from accepting turnover as a "cost of doing business" to actively protecting our bottom line.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2967186"/>
            <a:ext cx="490967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The Math Breakdown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62000" y="3472011"/>
            <a:ext cx="467588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90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Risk Profile: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50 estimated departures costing $39k each (50% of avg. salary).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62000" y="4033986"/>
            <a:ext cx="467588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47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Model Efficacy: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62% Recall captures $1.2M in potential risk before it happens.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62000" y="4595961"/>
            <a:ext cx="467588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858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Intervention: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Budgeting $2,500 per intervention with a conservative 50% success rate.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047750" y="5538936"/>
            <a:ext cx="415200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THE BOTTOM LINE</a:t>
            </a:r>
            <a:endParaRPr/>
          </a:p>
        </p:txBody>
      </p:sp>
      <p:pic>
        <p:nvPicPr>
          <p:cNvPr descr="image.png" id="174" name="Google Shape;17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5841" y="331961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7524303" y="3872061"/>
            <a:ext cx="2200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[ Insert 'roi_waterfall.png' Here ]</a:t>
            </a:r>
            <a:endParaRPr/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95841" y="540558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7395716" y="5958036"/>
            <a:ext cx="2457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[ Insert 'cost_comparison.png' Here ]</a:t>
            </a:r>
            <a:endParaRPr/>
          </a:p>
        </p:txBody>
      </p:sp>
      <p:pic>
        <p:nvPicPr>
          <p:cNvPr descr="image.png" id="178" name="Google Shape;17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500586"/>
            <a:ext cx="2381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062561"/>
            <a:ext cx="2381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4624536"/>
            <a:ext cx="23812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1047750" y="5843736"/>
            <a:ext cx="1476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NET SAVINGS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047750" y="6005661"/>
            <a:ext cx="1476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$485,000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4180582" y="5843736"/>
            <a:ext cx="10191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PROJECTED ROI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4180582" y="6005661"/>
            <a:ext cx="10191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485%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762000" y="919311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Responsible AI &amp; Fairness</a:t>
            </a:r>
            <a:endParaRPr/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3625" y="3293268"/>
            <a:ext cx="1905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6381750" y="2626518"/>
            <a:ext cx="53006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Audited for Zero Bias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381750" y="3293268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We conducted a formal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Fairness Audit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to ensure our technology does not discriminate based on Gender or Age.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648450" y="4255293"/>
            <a:ext cx="11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762750" y="4274343"/>
            <a:ext cx="4667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Verified: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Males and Females are flagged for risk at identical rates relative to their performance data (Disparate Impact Ratio: 1.09).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648450" y="5083968"/>
            <a:ext cx="11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762750" y="5103018"/>
            <a:ext cx="4667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Transparent: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No "Black Box" decisions. Every risk flag is backed by clear, explainable factors.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36068"/>
            <a:ext cx="33654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836068"/>
            <a:ext cx="33654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836068"/>
            <a:ext cx="3365599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762000" y="919311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Path Forward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143000" y="3493293"/>
            <a:ext cx="2733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Phase 1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143000" y="4017168"/>
            <a:ext cx="2603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Pilot Launch (Q3)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Trial in the Sales Department (highest risk area).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4794200" y="3493293"/>
            <a:ext cx="2733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Phase 2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4794200" y="4017168"/>
            <a:ext cx="2603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Feedback Loop (Q4)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Refining interventions based on Manager feedback.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8445400" y="3493293"/>
            <a:ext cx="273377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Phase 3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445400" y="4017168"/>
            <a:ext cx="26035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Full Integration (Year 1)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Automated HR alerts for all departments.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620315" y="2029866"/>
            <a:ext cx="10951368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Protecting Our Greatest Asset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1833562" y="3477666"/>
            <a:ext cx="8524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Let's stop interviewing people when they leave, and start listening while they are here.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5343525" y="4782591"/>
            <a:ext cx="1504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